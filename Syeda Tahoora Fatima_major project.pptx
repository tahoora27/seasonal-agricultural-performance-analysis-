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492"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9/10/2026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tahoora27/Seasonal-Agricultural-Performance-Analysis-/blob/main/Seasonal__Agricultural_performance_Analysis.ipynb"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301836" y="3973568"/>
            <a:ext cx="4759037" cy="861497"/>
          </a:xfrm>
        </p:spPr>
        <p:txBody>
          <a:bodyPr vert="horz" lIns="91440" tIns="45720" rIns="91440" bIns="45720" rtlCol="0" anchor="t">
            <a:noAutofit/>
          </a:bodyPr>
          <a:lstStyle/>
          <a:p>
            <a:pPr algn="r"/>
            <a:r>
              <a:rPr lang="en-US" sz="1800" dirty="0" smtClean="0">
                <a:solidFill>
                  <a:schemeClr val="tx1"/>
                </a:solidFill>
              </a:rPr>
              <a:t>Student Name : Syeda Tahoora Fatima</a:t>
            </a:r>
            <a:endParaRPr lang="en-IN" sz="1800" dirty="0">
              <a:solidFill>
                <a:schemeClr val="tx1"/>
              </a:solidFill>
            </a:endParaRPr>
          </a:p>
          <a:p>
            <a:pPr algn="r"/>
            <a:r>
              <a:rPr lang="en-US" sz="1800" dirty="0" smtClean="0">
                <a:solidFill>
                  <a:schemeClr val="tx1"/>
                </a:solidFill>
              </a:rPr>
              <a:t>College Name- Stanley College of Engineering &amp;Technology for Women</a:t>
            </a:r>
            <a:endParaRPr lang="en-IN" sz="1800" dirty="0">
              <a:solidFill>
                <a:schemeClr val="tx1"/>
              </a:solidFill>
            </a:endParaRPr>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1123595" y="2641342"/>
            <a:ext cx="7937278" cy="1686608"/>
          </a:xfrm>
        </p:spPr>
        <p:txBody>
          <a:bodyPr>
            <a:normAutofit/>
          </a:bodyPr>
          <a:lstStyle/>
          <a:p>
            <a:r>
              <a:rPr lang="en-GB" sz="3200" dirty="0"/>
              <a:t>Project Title </a:t>
            </a:r>
            <a:r>
              <a:rPr lang="en-GB" sz="3200" dirty="0"/>
              <a:t>-  Seasonal Agriculture Performance Analysis</a:t>
            </a:r>
            <a:endParaRPr lang="en-IN" sz="3200" dirty="0"/>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4880518" y="5076769"/>
            <a:ext cx="3761206" cy="646331"/>
          </a:xfrm>
          <a:prstGeom prst="rect">
            <a:avLst/>
          </a:prstGeom>
          <a:noFill/>
        </p:spPr>
        <p:txBody>
          <a:bodyPr wrap="square" rtlCol="0">
            <a:spAutoFit/>
          </a:bodyPr>
          <a:lstStyle/>
          <a:p>
            <a:r>
              <a:rPr lang="en-US" b="1" dirty="0"/>
              <a:t>AICTE STU ID : </a:t>
            </a:r>
            <a:r>
              <a:rPr lang="en-US" b="1" dirty="0"/>
              <a:t>STU6808dec0f2ad91745411776 </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36764" y="2004345"/>
            <a:ext cx="6431280" cy="3607987"/>
          </a:xfrm>
        </p:spPr>
        <p:txBody>
          <a:bodyPr vert="horz" lIns="91440" tIns="45720" rIns="91440" bIns="45720" rtlCol="0" anchor="t">
            <a:noAutofit/>
          </a:bodyPr>
          <a:lstStyle/>
          <a:p>
            <a:pPr marL="0" indent="0">
              <a:lnSpc>
                <a:spcPct val="150000"/>
              </a:lnSpc>
              <a:buNone/>
            </a:pPr>
            <a:r>
              <a:rPr lang="en-US" sz="1300" b="1" dirty="0"/>
              <a:t>Agricultural activities are influenced by seasonal variations in environmental </a:t>
            </a:r>
            <a:r>
              <a:rPr lang="en-US" sz="1300" b="1" dirty="0" smtClean="0"/>
              <a:t>conditions, farming </a:t>
            </a:r>
            <a:r>
              <a:rPr lang="en-US" sz="1300" b="1" dirty="0"/>
              <a:t>practices, resource availability and market conditions. As a result, </a:t>
            </a:r>
            <a:r>
              <a:rPr lang="en-US" sz="1300" b="1" dirty="0" smtClean="0"/>
              <a:t>agricultural performance </a:t>
            </a:r>
            <a:r>
              <a:rPr lang="en-US" sz="1300" b="1" dirty="0"/>
              <a:t>may differ from one season to another.</a:t>
            </a:r>
          </a:p>
          <a:p>
            <a:pPr marL="0" indent="0">
              <a:lnSpc>
                <a:spcPct val="150000"/>
              </a:lnSpc>
              <a:buNone/>
            </a:pPr>
            <a:r>
              <a:rPr lang="en-US" sz="1300" b="1" dirty="0"/>
              <a:t>However, raw agricultural data does not clearly explain how agricultural performance </a:t>
            </a:r>
            <a:r>
              <a:rPr lang="en-US" sz="1300" b="1" dirty="0" smtClean="0"/>
              <a:t>changes across </a:t>
            </a:r>
            <a:r>
              <a:rPr lang="en-US" sz="1300" b="1" dirty="0"/>
              <a:t>seasons or what patterns can be observed in different seasonal conditions.</a:t>
            </a:r>
          </a:p>
          <a:p>
            <a:pPr marL="0" indent="0">
              <a:lnSpc>
                <a:spcPct val="150000"/>
              </a:lnSpc>
              <a:buNone/>
            </a:pPr>
            <a:r>
              <a:rPr lang="en-US" sz="1300" b="1" dirty="0"/>
              <a:t>The problem is to analyze the given agricultural dataset and investigate seasonal </a:t>
            </a:r>
            <a:r>
              <a:rPr lang="en-US" sz="1300" b="1" dirty="0" smtClean="0"/>
              <a:t>differences in </a:t>
            </a:r>
            <a:r>
              <a:rPr lang="en-US" sz="1300" b="1" dirty="0"/>
              <a:t>agricultural performance by identifying meaningful patterns, trends, relationships </a:t>
            </a:r>
            <a:r>
              <a:rPr lang="en-US" sz="1300" b="1" dirty="0" smtClean="0"/>
              <a:t>and variations </a:t>
            </a:r>
            <a:r>
              <a:rPr lang="en-US" sz="1300" b="1" dirty="0"/>
              <a:t>within the available data.</a:t>
            </a:r>
            <a:endParaRPr lang="en-IN" sz="1300" b="1" dirty="0"/>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660399" y="805213"/>
            <a:ext cx="6276109" cy="830997"/>
          </a:xfrm>
        </p:spPr>
        <p:txBody>
          <a:bodyPr>
            <a:normAutofit/>
          </a:bodyPr>
          <a:lstStyle/>
          <a:p>
            <a:r>
              <a:rPr lang="en-GB" dirty="0"/>
              <a:t>Project </a:t>
            </a:r>
            <a:r>
              <a:rPr lang="en-GB" dirty="0" smtClean="0"/>
              <a:t>Description</a:t>
            </a:r>
            <a:endParaRPr lang="en-IN" dirty="0"/>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3" name="Rectangle 5"/>
          <p:cNvSpPr>
            <a:spLocks noChangeArrowheads="1"/>
          </p:cNvSpPr>
          <p:nvPr/>
        </p:nvSpPr>
        <p:spPr bwMode="auto">
          <a:xfrm>
            <a:off x="675957" y="2315175"/>
            <a:ext cx="739461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smtClean="0">
                <a:ln>
                  <a:noFill/>
                </a:ln>
                <a:solidFill>
                  <a:schemeClr val="tx1"/>
                </a:solidFill>
                <a:effectLst/>
                <a:latin typeface="+mj-lt"/>
              </a:rPr>
              <a:t>Seasonal Agriculture Performance Analysis is a data analysis project that examines agricultural performance across different seasons, crops, regions, and farming conditions. The project analyzes factors such as rainfall, temperature, soil conditions, resource usage, irrigation, crop yield, production, water efficiency, disease/pest risk, revenue, and profit.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smtClean="0">
                <a:ln>
                  <a:noFill/>
                </a:ln>
                <a:solidFill>
                  <a:schemeClr val="tx1"/>
                </a:solidFill>
                <a:effectLst/>
                <a:latin typeface="+mj-lt"/>
              </a:rPr>
              <a:t>The analysis uses data cleaning, exploratory data analysis, statistical analysis, and visualization techniques to identify seasonal patterns, compare agricultural performance, and understand differences across crops and regions. The findings help identify high-performing seasons, resource-use patterns, economic differences, and areas where better seasonal agricultural planning can be considered.</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720725" y="2970550"/>
            <a:ext cx="467628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mj-lt"/>
              </a:rPr>
              <a:t>End Users:</a:t>
            </a:r>
            <a:endParaRPr kumimoji="0" lang="en-US" altLang="en-US" sz="1800" b="0" i="0" u="none" strike="noStrike" cap="none" normalizeH="0" baseline="0" dirty="0" smtClean="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Farmers and farm managers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Agricultural planners and consultants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Agricultural researchers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Government and agricultural departments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mj-lt"/>
              </a:rPr>
              <a:t>Agribusinesses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p:cNvSpPr>
            <a:spLocks noGrp="1" noChangeArrowheads="1"/>
          </p:cNvSpPr>
          <p:nvPr>
            <p:ph type="body" sz="quarter" idx="12"/>
          </p:nvPr>
        </p:nvSpPr>
        <p:spPr bwMode="auto">
          <a:xfrm>
            <a:off x="1562503" y="2233868"/>
            <a:ext cx="710497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Python</a:t>
            </a:r>
            <a:r>
              <a:rPr kumimoji="0" lang="en-US" altLang="en-US" sz="1800" b="0" i="0" u="none" strike="noStrike" cap="none" normalizeH="0" baseline="0" dirty="0" smtClean="0">
                <a:ln>
                  <a:noFill/>
                </a:ln>
                <a:solidFill>
                  <a:schemeClr val="tx1"/>
                </a:solidFill>
                <a:effectLst/>
                <a:latin typeface="+mj-lt"/>
              </a:rPr>
              <a:t> – Programming and data analysis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Google Colab</a:t>
            </a:r>
            <a:r>
              <a:rPr kumimoji="0" lang="en-US" altLang="en-US" sz="1800" b="0" i="0" u="none" strike="noStrike" cap="none" normalizeH="0" baseline="0" dirty="0" smtClean="0">
                <a:ln>
                  <a:noFill/>
                </a:ln>
                <a:solidFill>
                  <a:schemeClr val="tx1"/>
                </a:solidFill>
                <a:effectLst/>
                <a:latin typeface="+mj-lt"/>
              </a:rPr>
              <a:t> – Development and execution environment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Pandas</a:t>
            </a:r>
            <a:r>
              <a:rPr kumimoji="0" lang="en-US" altLang="en-US" sz="1800" b="0" i="0" u="none" strike="noStrike" cap="none" normalizeH="0" baseline="0" dirty="0" smtClean="0">
                <a:ln>
                  <a:noFill/>
                </a:ln>
                <a:solidFill>
                  <a:schemeClr val="tx1"/>
                </a:solidFill>
                <a:effectLst/>
                <a:latin typeface="+mj-lt"/>
              </a:rPr>
              <a:t> – Data cleaning and data manipulation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NumPy</a:t>
            </a:r>
            <a:r>
              <a:rPr kumimoji="0" lang="en-US" altLang="en-US" sz="1800" b="0" i="0" u="none" strike="noStrike" cap="none" normalizeH="0" baseline="0" dirty="0" smtClean="0">
                <a:ln>
                  <a:noFill/>
                </a:ln>
                <a:solidFill>
                  <a:schemeClr val="tx1"/>
                </a:solidFill>
                <a:effectLst/>
                <a:latin typeface="+mj-lt"/>
              </a:rPr>
              <a:t> – Numerical computations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Matplotlib</a:t>
            </a:r>
            <a:r>
              <a:rPr kumimoji="0" lang="en-US" altLang="en-US" sz="1800" b="0" i="0" u="none" strike="noStrike" cap="none" normalizeH="0" baseline="0" dirty="0" smtClean="0">
                <a:ln>
                  <a:noFill/>
                </a:ln>
                <a:solidFill>
                  <a:schemeClr val="tx1"/>
                </a:solidFill>
                <a:effectLst/>
                <a:latin typeface="+mj-lt"/>
              </a:rPr>
              <a:t> – Data visualization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Seaborn</a:t>
            </a:r>
            <a:r>
              <a:rPr kumimoji="0" lang="en-US" altLang="en-US" sz="1800" b="0" i="0" u="none" strike="noStrike" cap="none" normalizeH="0" baseline="0" dirty="0" smtClean="0">
                <a:ln>
                  <a:noFill/>
                </a:ln>
                <a:solidFill>
                  <a:schemeClr val="tx1"/>
                </a:solidFill>
                <a:effectLst/>
                <a:latin typeface="+mj-lt"/>
              </a:rPr>
              <a:t> – Statistical visualizations and charts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SciPy</a:t>
            </a:r>
            <a:r>
              <a:rPr kumimoji="0" lang="en-US" altLang="en-US" sz="1800" b="0" i="0" u="none" strike="noStrike" cap="none" normalizeH="0" baseline="0" dirty="0" smtClean="0">
                <a:ln>
                  <a:noFill/>
                </a:ln>
                <a:solidFill>
                  <a:schemeClr val="tx1"/>
                </a:solidFill>
                <a:effectLst/>
                <a:latin typeface="+mj-lt"/>
              </a:rPr>
              <a:t> – Statistical tests such as ANOVA and </a:t>
            </a:r>
            <a:r>
              <a:rPr kumimoji="0" lang="en-US" altLang="en-US" sz="1800" b="0" i="0" u="none" strike="noStrike" cap="none" normalizeH="0" baseline="0" dirty="0" err="1" smtClean="0">
                <a:ln>
                  <a:noFill/>
                </a:ln>
                <a:solidFill>
                  <a:schemeClr val="tx1"/>
                </a:solidFill>
                <a:effectLst/>
                <a:latin typeface="+mj-lt"/>
              </a:rPr>
              <a:t>Kruskal</a:t>
            </a:r>
            <a:r>
              <a:rPr kumimoji="0" lang="en-US" altLang="en-US" sz="1800" b="0" i="0" u="none" strike="noStrike" cap="none" normalizeH="0" baseline="0" dirty="0" smtClean="0">
                <a:ln>
                  <a:noFill/>
                </a:ln>
                <a:solidFill>
                  <a:schemeClr val="tx1"/>
                </a:solidFill>
                <a:effectLst/>
                <a:latin typeface="+mj-lt"/>
              </a:rPr>
              <a:t>-Wallis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CSV Dataset</a:t>
            </a:r>
            <a:r>
              <a:rPr kumimoji="0" lang="en-US" altLang="en-US" sz="1800" b="0" i="0" u="none" strike="noStrike" cap="none" normalizeH="0" baseline="0" dirty="0" smtClean="0">
                <a:ln>
                  <a:noFill/>
                </a:ln>
                <a:solidFill>
                  <a:schemeClr val="tx1"/>
                </a:solidFill>
                <a:effectLst/>
                <a:latin typeface="+mj-lt"/>
              </a:rPr>
              <a:t> – Data source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476899" y="1950570"/>
            <a:ext cx="5248603" cy="3255463"/>
          </a:xfrm>
          <a:prstGeom prst="rect">
            <a:avLst/>
          </a:prstGeom>
        </p:spPr>
      </p:pic>
      <p:sp>
        <p:nvSpPr>
          <p:cNvPr id="6" name="TextBox 5"/>
          <p:cNvSpPr txBox="1"/>
          <p:nvPr/>
        </p:nvSpPr>
        <p:spPr>
          <a:xfrm>
            <a:off x="788072" y="1284492"/>
            <a:ext cx="4314422" cy="369332"/>
          </a:xfrm>
          <a:prstGeom prst="rect">
            <a:avLst/>
          </a:prstGeom>
          <a:noFill/>
        </p:spPr>
        <p:txBody>
          <a:bodyPr wrap="square" rtlCol="0">
            <a:spAutoFit/>
          </a:bodyPr>
          <a:lstStyle/>
          <a:p>
            <a:r>
              <a:rPr lang="en-US" b="1" dirty="0" smtClean="0"/>
              <a:t>Seasonal Analysis: Yield By Season</a:t>
            </a:r>
            <a:endParaRPr lang="en-US" b="1" dirty="0"/>
          </a:p>
        </p:txBody>
      </p:sp>
      <p:sp>
        <p:nvSpPr>
          <p:cNvPr id="9" name="Rectangle 3"/>
          <p:cNvSpPr>
            <a:spLocks noGrp="1" noChangeArrowheads="1"/>
          </p:cNvSpPr>
          <p:nvPr>
            <p:ph type="body" sz="quarter" idx="12"/>
          </p:nvPr>
        </p:nvSpPr>
        <p:spPr bwMode="auto">
          <a:xfrm>
            <a:off x="6017474" y="2170776"/>
            <a:ext cx="3996765" cy="3462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smtClean="0">
                <a:ln>
                  <a:noFill/>
                </a:ln>
                <a:solidFill>
                  <a:schemeClr val="tx1"/>
                </a:solidFill>
                <a:effectLst/>
                <a:latin typeface="+mj-lt"/>
              </a:rPr>
              <a:t>Plot:</a:t>
            </a:r>
            <a:r>
              <a:rPr kumimoji="0" lang="en-US" altLang="en-US" sz="1300" b="0" i="0" u="none" strike="noStrike" cap="none" normalizeH="0" baseline="0" dirty="0" smtClean="0">
                <a:ln>
                  <a:noFill/>
                </a:ln>
                <a:solidFill>
                  <a:schemeClr val="tx1"/>
                </a:solidFill>
                <a:effectLst/>
                <a:latin typeface="+mj-lt"/>
              </a:rPr>
              <a:t> Bar chart</a:t>
            </a:r>
            <a:br>
              <a:rPr kumimoji="0" lang="en-US" altLang="en-US" sz="1300" b="0" i="0" u="none" strike="noStrike" cap="none" normalizeH="0" baseline="0" dirty="0" smtClean="0">
                <a:ln>
                  <a:noFill/>
                </a:ln>
                <a:solidFill>
                  <a:schemeClr val="tx1"/>
                </a:solidFill>
                <a:effectLst/>
                <a:latin typeface="+mj-lt"/>
              </a:rPr>
            </a:br>
            <a:r>
              <a:rPr kumimoji="0" lang="en-US" altLang="en-US" sz="1300" b="1" i="0" u="none" strike="noStrike" cap="none" normalizeH="0" baseline="0" dirty="0" smtClean="0">
                <a:ln>
                  <a:noFill/>
                </a:ln>
                <a:solidFill>
                  <a:schemeClr val="tx1"/>
                </a:solidFill>
                <a:effectLst/>
                <a:latin typeface="+mj-lt"/>
              </a:rPr>
              <a:t>Use:</a:t>
            </a:r>
            <a:r>
              <a:rPr kumimoji="0" lang="en-US" altLang="en-US" sz="1300" b="0" i="0" u="none" strike="noStrike" cap="none" normalizeH="0" baseline="0" dirty="0" smtClean="0">
                <a:ln>
                  <a:noFill/>
                </a:ln>
                <a:solidFill>
                  <a:schemeClr val="tx1"/>
                </a:solidFill>
                <a:effectLst/>
                <a:latin typeface="+mj-lt"/>
              </a:rPr>
              <a:t> Season vs Yield_Tonnes_Ha </a:t>
            </a:r>
          </a:p>
          <a:p>
            <a:pPr marL="0" marR="0" lvl="0" indent="0" algn="l" defTabSz="914400" rtl="0" eaLnBrk="0" fontAlgn="base" latinLnBrk="0" hangingPunct="0">
              <a:lnSpc>
                <a:spcPct val="100000"/>
              </a:lnSpc>
              <a:spcBef>
                <a:spcPct val="0"/>
              </a:spcBef>
              <a:spcAft>
                <a:spcPct val="0"/>
              </a:spcAft>
              <a:buClrTx/>
              <a:buSzTx/>
              <a:buFontTx/>
              <a:buNone/>
              <a:tabLst/>
            </a:pPr>
            <a:r>
              <a:rPr lang="en-US" sz="1400" b="1" dirty="0" smtClean="0"/>
              <a:t>results</a:t>
            </a:r>
            <a:r>
              <a:rPr lang="en-US" sz="1400" dirty="0"/>
              <a:t>:</a:t>
            </a:r>
          </a:p>
          <a:p>
            <a:r>
              <a:rPr lang="en-US" sz="1400" dirty="0"/>
              <a:t>Kharif → </a:t>
            </a:r>
            <a:r>
              <a:rPr lang="en-US" sz="1400" b="1" dirty="0"/>
              <a:t>5.64 t/ha</a:t>
            </a:r>
            <a:r>
              <a:rPr lang="en-US" sz="1400" dirty="0"/>
              <a:t> </a:t>
            </a:r>
          </a:p>
          <a:p>
            <a:r>
              <a:rPr lang="en-US" sz="1400" dirty="0"/>
              <a:t>Rabi → </a:t>
            </a:r>
            <a:r>
              <a:rPr lang="en-US" sz="1400" b="1" dirty="0"/>
              <a:t>5.08 t/ha</a:t>
            </a:r>
            <a:r>
              <a:rPr lang="en-US" sz="1400" dirty="0"/>
              <a:t> </a:t>
            </a:r>
          </a:p>
          <a:p>
            <a:r>
              <a:rPr lang="en-US" sz="1400" dirty="0"/>
              <a:t>Zaid → </a:t>
            </a:r>
            <a:r>
              <a:rPr lang="en-US" sz="1400" b="1" dirty="0"/>
              <a:t>4.67 t/ha</a:t>
            </a:r>
            <a:endParaRPr lang="en-US" sz="1400" dirty="0"/>
          </a:p>
          <a:p>
            <a:pPr marL="0" lvl="0" indent="0" defTabSz="914400" eaLnBrk="0" fontAlgn="base" hangingPunct="0">
              <a:spcBef>
                <a:spcPct val="0"/>
              </a:spcBef>
              <a:spcAft>
                <a:spcPct val="0"/>
              </a:spcAft>
              <a:buClrTx/>
              <a:buSzTx/>
              <a:buNone/>
            </a:pPr>
            <a:r>
              <a:rPr lang="en-US" sz="1400" b="1" dirty="0"/>
              <a:t>Interpretation:</a:t>
            </a:r>
            <a:r>
              <a:rPr lang="en-US" sz="1400" dirty="0"/>
              <a:t/>
            </a:r>
            <a:br>
              <a:rPr lang="en-US" sz="1400" dirty="0"/>
            </a:br>
            <a:r>
              <a:rPr lang="en-US" sz="1400" dirty="0"/>
              <a:t>The average yield is highest during the Kharif season at 5.64 tonnes/ha, followed by Rabi at 5.08 tonnes/ha. Zaid has the lowest average yield at 4.67 tonnes/ha. This indicates that agricultural yield varies across seasons, with Kharif showing the strongest overall performance.</a:t>
            </a:r>
            <a:endParaRPr kumimoji="0" lang="en-US" altLang="en-US" sz="13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3A64DB11-806F-1A4C-E0D5-D745D29CED50}"/>
              </a:ext>
            </a:extLst>
          </p:cNvPr>
          <p:cNvSpPr>
            <a:spLocks noGrp="1"/>
          </p:cNvSpPr>
          <p:nvPr>
            <p:ph type="body" sz="quarter" idx="12"/>
          </p:nvPr>
        </p:nvSpPr>
        <p:spPr>
          <a:xfrm>
            <a:off x="687582" y="4076738"/>
            <a:ext cx="7316221" cy="2027848"/>
          </a:xfrm>
        </p:spPr>
        <p:txBody>
          <a:bodyPr>
            <a:noAutofit/>
          </a:bodyPr>
          <a:lstStyle/>
          <a:p>
            <a:pPr marL="0" indent="0">
              <a:buNone/>
            </a:pPr>
            <a:r>
              <a:rPr lang="en-US" sz="1600" b="1" dirty="0"/>
              <a:t>Interpretation:</a:t>
            </a:r>
            <a:r>
              <a:rPr lang="en-US" sz="1600" dirty="0"/>
              <a:t/>
            </a:r>
            <a:br>
              <a:rPr lang="en-US" sz="1600" dirty="0"/>
            </a:br>
            <a:r>
              <a:rPr lang="en-US" sz="1600" dirty="0"/>
              <a:t>Kharif receives substantially higher rainfall and has higher humidity and soil moisture. Rabi has the lowest average temperature, while Zaid has the highest temperature and sunlight but the lowest rainfall, humidity and soil moisture. These results demonstrate clear differences in environmental conditions across seasons.</a:t>
            </a:r>
            <a:endParaRPr lang="en-IN" sz="1600" dirty="0"/>
          </a:p>
        </p:txBody>
      </p:sp>
      <p:sp>
        <p:nvSpPr>
          <p:cNvPr id="2" name="TextBox 1"/>
          <p:cNvSpPr txBox="1"/>
          <p:nvPr/>
        </p:nvSpPr>
        <p:spPr>
          <a:xfrm>
            <a:off x="670038" y="1466743"/>
            <a:ext cx="6201361" cy="646331"/>
          </a:xfrm>
          <a:prstGeom prst="rect">
            <a:avLst/>
          </a:prstGeom>
          <a:noFill/>
        </p:spPr>
        <p:txBody>
          <a:bodyPr wrap="square" rtlCol="0">
            <a:spAutoFit/>
          </a:bodyPr>
          <a:lstStyle/>
          <a:p>
            <a:r>
              <a:rPr lang="en-US" b="1" dirty="0" smtClean="0"/>
              <a:t>Environmental Analysis : Season vs Environmental Conditions</a:t>
            </a:r>
            <a:endParaRPr lang="en-US" b="1" dirty="0"/>
          </a:p>
        </p:txBody>
      </p:sp>
      <p:pic>
        <p:nvPicPr>
          <p:cNvPr id="3" name="Picture 2"/>
          <p:cNvPicPr>
            <a:picLocks noChangeAspect="1"/>
          </p:cNvPicPr>
          <p:nvPr/>
        </p:nvPicPr>
        <p:blipFill>
          <a:blip r:embed="rId3"/>
          <a:stretch>
            <a:fillRect/>
          </a:stretch>
        </p:blipFill>
        <p:spPr>
          <a:xfrm>
            <a:off x="687583" y="2304446"/>
            <a:ext cx="7316221" cy="1648055"/>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B6E3B1C7-6A8B-23EE-6251-DC1067C6ADE9}"/>
              </a:ext>
            </a:extLst>
          </p:cNvPr>
          <p:cNvSpPr>
            <a:spLocks noGrp="1"/>
          </p:cNvSpPr>
          <p:nvPr>
            <p:ph type="body" sz="quarter" idx="12"/>
          </p:nvPr>
        </p:nvSpPr>
        <p:spPr>
          <a:xfrm>
            <a:off x="904277" y="4868402"/>
            <a:ext cx="7080624" cy="1442246"/>
          </a:xfrm>
        </p:spPr>
        <p:txBody>
          <a:bodyPr>
            <a:normAutofit fontScale="85000" lnSpcReduction="20000"/>
          </a:bodyPr>
          <a:lstStyle/>
          <a:p>
            <a:pPr marL="0" indent="0">
              <a:buNone/>
            </a:pPr>
            <a:r>
              <a:rPr lang="en-US" b="1" dirty="0"/>
              <a:t>Interpretation:</a:t>
            </a:r>
            <a:r>
              <a:rPr lang="en-US" dirty="0"/>
              <a:t/>
            </a:r>
            <a:br>
              <a:rPr lang="en-US" dirty="0"/>
            </a:br>
            <a:r>
              <a:rPr lang="en-US" dirty="0"/>
              <a:t>Zaid uses the highest average amount of water at 6,419.89 m³ but has the lowest water efficiency at 4.41 tonnes per 1,000 m³. In contrast, Kharif has higher water efficiency at 5.89 tonnes per 1,000 m³. This indicates that water management is particularly important during the Zaid season.</a:t>
            </a:r>
            <a:endParaRPr lang="en-IN" dirty="0"/>
          </a:p>
        </p:txBody>
      </p:sp>
      <p:sp>
        <p:nvSpPr>
          <p:cNvPr id="2" name="TextBox 1"/>
          <p:cNvSpPr txBox="1"/>
          <p:nvPr/>
        </p:nvSpPr>
        <p:spPr>
          <a:xfrm>
            <a:off x="675957" y="1368903"/>
            <a:ext cx="5370490" cy="646331"/>
          </a:xfrm>
          <a:prstGeom prst="rect">
            <a:avLst/>
          </a:prstGeom>
          <a:noFill/>
        </p:spPr>
        <p:txBody>
          <a:bodyPr wrap="square" rtlCol="0">
            <a:spAutoFit/>
          </a:bodyPr>
          <a:lstStyle/>
          <a:p>
            <a:r>
              <a:rPr lang="en-US" b="1" dirty="0" smtClean="0"/>
              <a:t>Resource Analysis: Water Usage Vs Water Efficiency </a:t>
            </a:r>
            <a:endParaRPr lang="en-US" b="1" dirty="0"/>
          </a:p>
        </p:txBody>
      </p:sp>
      <p:pic>
        <p:nvPicPr>
          <p:cNvPr id="6" name="Picture 5"/>
          <p:cNvPicPr>
            <a:picLocks noChangeAspect="1"/>
          </p:cNvPicPr>
          <p:nvPr/>
        </p:nvPicPr>
        <p:blipFill>
          <a:blip r:embed="rId3"/>
          <a:stretch>
            <a:fillRect/>
          </a:stretch>
        </p:blipFill>
        <p:spPr>
          <a:xfrm>
            <a:off x="675957" y="2108766"/>
            <a:ext cx="4106963" cy="2547357"/>
          </a:xfrm>
          <a:prstGeom prst="rect">
            <a:avLst/>
          </a:prstGeom>
        </p:spPr>
      </p:pic>
      <p:pic>
        <p:nvPicPr>
          <p:cNvPr id="9" name="Picture 8"/>
          <p:cNvPicPr>
            <a:picLocks noChangeAspect="1"/>
          </p:cNvPicPr>
          <p:nvPr/>
        </p:nvPicPr>
        <p:blipFill>
          <a:blip r:embed="rId4"/>
          <a:stretch>
            <a:fillRect/>
          </a:stretch>
        </p:blipFill>
        <p:spPr>
          <a:xfrm>
            <a:off x="5179416" y="2108765"/>
            <a:ext cx="4104993" cy="254613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2B7B89A1-9444-8322-CADC-42D31D698FA8}"/>
              </a:ext>
            </a:extLst>
          </p:cNvPr>
          <p:cNvSpPr>
            <a:spLocks noGrp="1"/>
          </p:cNvSpPr>
          <p:nvPr>
            <p:ph type="body" sz="quarter" idx="12"/>
          </p:nvPr>
        </p:nvSpPr>
        <p:spPr>
          <a:xfrm>
            <a:off x="681512" y="1291098"/>
            <a:ext cx="5989744" cy="724135"/>
          </a:xfrm>
        </p:spPr>
        <p:txBody>
          <a:bodyPr>
            <a:normAutofit/>
          </a:bodyPr>
          <a:lstStyle/>
          <a:p>
            <a:pPr marL="0" indent="0">
              <a:buNone/>
            </a:pPr>
            <a:r>
              <a:rPr lang="en-US" b="1" dirty="0" smtClean="0"/>
              <a:t>Economic Analysis : Average Cost, Revenue </a:t>
            </a:r>
            <a:r>
              <a:rPr lang="en-US" b="1" dirty="0"/>
              <a:t>a</a:t>
            </a:r>
            <a:r>
              <a:rPr lang="en-US" b="1" dirty="0" smtClean="0"/>
              <a:t>nd Profit by Season</a:t>
            </a:r>
            <a:endParaRPr lang="en-IN" b="1" dirty="0"/>
          </a:p>
        </p:txBody>
      </p:sp>
      <p:sp>
        <p:nvSpPr>
          <p:cNvPr id="9" name="Text Placeholder 1">
            <a:extLst>
              <a:ext uri="{FF2B5EF4-FFF2-40B4-BE49-F238E27FC236}">
                <a16:creationId xmlns:a16="http://schemas.microsoft.com/office/drawing/2014/main" xmlns="" id="{2B7B89A1-9444-8322-CADC-42D31D698FA8}"/>
              </a:ext>
            </a:extLst>
          </p:cNvPr>
          <p:cNvSpPr txBox="1">
            <a:spLocks/>
          </p:cNvSpPr>
          <p:nvPr/>
        </p:nvSpPr>
        <p:spPr>
          <a:xfrm>
            <a:off x="6229170" y="2233891"/>
            <a:ext cx="3314075" cy="3226751"/>
          </a:xfrm>
          <a:prstGeom prst="rect">
            <a:avLst/>
          </a:prstGeom>
        </p:spPr>
        <p:txBody>
          <a:bodyPr vert="horz" lIns="91440" tIns="45720" rIns="91440" bIns="45720" rtlCol="0">
            <a:normAutofit fontScale="70000" lnSpcReduction="20000"/>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b="1" dirty="0" smtClean="0"/>
              <a:t>Interpretation:</a:t>
            </a:r>
          </a:p>
          <a:p>
            <a:r>
              <a:rPr lang="en-US" b="1" dirty="0" smtClean="0"/>
              <a:t>Kharif </a:t>
            </a:r>
            <a:r>
              <a:rPr lang="en-US" b="1" dirty="0"/>
              <a:t>is the most profitable season:</a:t>
            </a:r>
            <a:r>
              <a:rPr lang="en-US" dirty="0"/>
              <a:t> Highest revenue (over ₹7L) and maximum profit margin due to optimal monsoon conditions.</a:t>
            </a:r>
          </a:p>
          <a:p>
            <a:r>
              <a:rPr lang="en-US" b="1" dirty="0"/>
              <a:t>Rabi shows stable but lower returns:</a:t>
            </a:r>
            <a:r>
              <a:rPr lang="en-US" dirty="0"/>
              <a:t> Costs stay flat, but lower seasonal revenues cut total profits in half compared to Kharif.</a:t>
            </a:r>
          </a:p>
          <a:p>
            <a:r>
              <a:rPr lang="en-US" b="1" dirty="0"/>
              <a:t>Zaid operates at a net financial loss:</a:t>
            </a:r>
            <a:r>
              <a:rPr lang="en-US" dirty="0"/>
              <a:t> Dry summer conditions force the highest input costs (irrigation) while yielding the lowest revenue, pulling profits below zero (-₹24.8K).</a:t>
            </a:r>
          </a:p>
          <a:p>
            <a:pPr marL="0" indent="0">
              <a:buFont typeface="Wingdings" panose="05000000000000000000" pitchFamily="2" charset="2"/>
              <a:buNone/>
            </a:pPr>
            <a:endParaRPr lang="en-IN" dirty="0"/>
          </a:p>
        </p:txBody>
      </p:sp>
      <p:pic>
        <p:nvPicPr>
          <p:cNvPr id="3" name="Picture 2"/>
          <p:cNvPicPr>
            <a:picLocks noChangeAspect="1"/>
          </p:cNvPicPr>
          <p:nvPr/>
        </p:nvPicPr>
        <p:blipFill>
          <a:blip r:embed="rId3"/>
          <a:stretch>
            <a:fillRect/>
          </a:stretch>
        </p:blipFill>
        <p:spPr>
          <a:xfrm>
            <a:off x="858680" y="2133991"/>
            <a:ext cx="5065602" cy="332665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fade">
                                      <p:cBhvr>
                                        <p:cTn id="35" dur="1000"/>
                                        <p:tgtEl>
                                          <p:spTgt spid="9">
                                            <p:txEl>
                                              <p:pRg st="0" end="0"/>
                                            </p:txEl>
                                          </p:spTgt>
                                        </p:tgtEl>
                                      </p:cBhvr>
                                    </p:animEffect>
                                    <p:anim calcmode="lin" valueType="num">
                                      <p:cBhvr>
                                        <p:cTn id="36"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xEl>
                                              <p:pRg st="1" end="1"/>
                                            </p:txEl>
                                          </p:spTgt>
                                        </p:tgtEl>
                                        <p:attrNameLst>
                                          <p:attrName>style.visibility</p:attrName>
                                        </p:attrNameLst>
                                      </p:cBhvr>
                                      <p:to>
                                        <p:strVal val="visible"/>
                                      </p:to>
                                    </p:set>
                                    <p:animEffect transition="in" filter="fade">
                                      <p:cBhvr>
                                        <p:cTn id="42" dur="1000"/>
                                        <p:tgtEl>
                                          <p:spTgt spid="9">
                                            <p:txEl>
                                              <p:pRg st="1" end="1"/>
                                            </p:txEl>
                                          </p:spTgt>
                                        </p:tgtEl>
                                      </p:cBhvr>
                                    </p:animEffect>
                                    <p:anim calcmode="lin" valueType="num">
                                      <p:cBhvr>
                                        <p:cTn id="4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44"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xEl>
                                              <p:pRg st="2" end="2"/>
                                            </p:txEl>
                                          </p:spTgt>
                                        </p:tgtEl>
                                        <p:attrNameLst>
                                          <p:attrName>style.visibility</p:attrName>
                                        </p:attrNameLst>
                                      </p:cBhvr>
                                      <p:to>
                                        <p:strVal val="visible"/>
                                      </p:to>
                                    </p:set>
                                    <p:animEffect transition="in" filter="fade">
                                      <p:cBhvr>
                                        <p:cTn id="49" dur="1000"/>
                                        <p:tgtEl>
                                          <p:spTgt spid="9">
                                            <p:txEl>
                                              <p:pRg st="2" end="2"/>
                                            </p:txEl>
                                          </p:spTgt>
                                        </p:tgtEl>
                                      </p:cBhvr>
                                    </p:animEffect>
                                    <p:anim calcmode="lin" valueType="num">
                                      <p:cBhvr>
                                        <p:cTn id="50"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51"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9">
                                            <p:txEl>
                                              <p:pRg st="3" end="3"/>
                                            </p:txEl>
                                          </p:spTgt>
                                        </p:tgtEl>
                                        <p:attrNameLst>
                                          <p:attrName>style.visibility</p:attrName>
                                        </p:attrNameLst>
                                      </p:cBhvr>
                                      <p:to>
                                        <p:strVal val="visible"/>
                                      </p:to>
                                    </p:set>
                                    <p:animEffect transition="in" filter="fade">
                                      <p:cBhvr>
                                        <p:cTn id="56" dur="1000"/>
                                        <p:tgtEl>
                                          <p:spTgt spid="9">
                                            <p:txEl>
                                              <p:pRg st="3" end="3"/>
                                            </p:txEl>
                                          </p:spTgt>
                                        </p:tgtEl>
                                      </p:cBhvr>
                                    </p:animEffect>
                                    <p:anim calcmode="lin" valueType="num">
                                      <p:cBhvr>
                                        <p:cTn id="57"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58"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6017474" y="1941449"/>
            <a:ext cx="4166500" cy="3127795"/>
          </a:xfrm>
        </p:spPr>
        <p:txBody>
          <a:bodyPr>
            <a:normAutofit fontScale="92500"/>
          </a:bodyPr>
          <a:lstStyle/>
          <a:p>
            <a:pPr marL="0" indent="0">
              <a:buNone/>
            </a:pPr>
            <a:r>
              <a:rPr lang="en-US" b="1" dirty="0"/>
              <a:t>Interpretation</a:t>
            </a:r>
            <a:r>
              <a:rPr lang="en-US" b="1" dirty="0" smtClean="0"/>
              <a:t>:</a:t>
            </a:r>
          </a:p>
          <a:p>
            <a:pPr marL="0" indent="0">
              <a:buNone/>
            </a:pPr>
            <a:r>
              <a:rPr lang="en-US" dirty="0"/>
              <a:t/>
            </a:r>
            <a:br>
              <a:rPr lang="en-US" dirty="0"/>
            </a:br>
            <a:r>
              <a:rPr lang="en-US" sz="1600" dirty="0"/>
              <a:t>The </a:t>
            </a:r>
            <a:r>
              <a:rPr lang="en-US" sz="1600" dirty="0" smtClean="0"/>
              <a:t>heat map </a:t>
            </a:r>
            <a:r>
              <a:rPr lang="en-US" sz="1600" dirty="0"/>
              <a:t>shows that seasonal performance differs across states. Although Kharif has the highest overall average yield, this pattern is not consistent for every state. Punjab performs particularly well during Rabi, with an average yield of 8.61 tonnes/ha, while Karnataka records slightly higher yield in Zaid than Kharif. This indicates that regional conditions influence seasonal agricultural performance.</a:t>
            </a:r>
            <a:endParaRPr lang="en-IN" sz="1600" dirty="0"/>
          </a:p>
        </p:txBody>
      </p:sp>
      <p:sp>
        <p:nvSpPr>
          <p:cNvPr id="9" name="Text Placeholder 1">
            <a:extLst>
              <a:ext uri="{FF2B5EF4-FFF2-40B4-BE49-F238E27FC236}">
                <a16:creationId xmlns:a16="http://schemas.microsoft.com/office/drawing/2014/main" xmlns="" id="{F85C769B-425A-FE3B-E47A-3B747985DC52}"/>
              </a:ext>
            </a:extLst>
          </p:cNvPr>
          <p:cNvSpPr txBox="1">
            <a:spLocks/>
          </p:cNvSpPr>
          <p:nvPr/>
        </p:nvSpPr>
        <p:spPr>
          <a:xfrm>
            <a:off x="681513" y="1369650"/>
            <a:ext cx="4275138" cy="47752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panose="05000000000000000000" pitchFamily="2" charset="2"/>
              <a:buNone/>
            </a:pPr>
            <a:r>
              <a:rPr lang="en-US" b="1" dirty="0" smtClean="0"/>
              <a:t>Region(state) x Season Analysis</a:t>
            </a:r>
            <a:endParaRPr lang="en-IN" b="1" dirty="0"/>
          </a:p>
        </p:txBody>
      </p:sp>
      <p:pic>
        <p:nvPicPr>
          <p:cNvPr id="2" name="Picture 1"/>
          <p:cNvPicPr>
            <a:picLocks noChangeAspect="1"/>
          </p:cNvPicPr>
          <p:nvPr/>
        </p:nvPicPr>
        <p:blipFill>
          <a:blip r:embed="rId3"/>
          <a:stretch>
            <a:fillRect/>
          </a:stretch>
        </p:blipFill>
        <p:spPr>
          <a:xfrm>
            <a:off x="320117" y="2035728"/>
            <a:ext cx="5436739" cy="336052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xEl>
                                              <p:pRg st="0" end="0"/>
                                            </p:txEl>
                                          </p:spTgt>
                                        </p:tgtEl>
                                        <p:attrNameLst>
                                          <p:attrName>style.visibility</p:attrName>
                                        </p:attrNameLst>
                                      </p:cBhvr>
                                      <p:to>
                                        <p:strVal val="visible"/>
                                      </p:to>
                                    </p:set>
                                    <p:animEffect transition="in" filter="fade">
                                      <p:cBhvr>
                                        <p:cTn id="42" dur="1000"/>
                                        <p:tgtEl>
                                          <p:spTgt spid="9">
                                            <p:txEl>
                                              <p:pRg st="0" end="0"/>
                                            </p:txEl>
                                          </p:spTgt>
                                        </p:tgtEl>
                                      </p:cBhvr>
                                    </p:animEffect>
                                    <p:anim calcmode="lin" valueType="num">
                                      <p:cBhvr>
                                        <p:cTn id="43"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Rectangle 1"/>
          <p:cNvSpPr>
            <a:spLocks noChangeArrowheads="1"/>
          </p:cNvSpPr>
          <p:nvPr/>
        </p:nvSpPr>
        <p:spPr bwMode="auto">
          <a:xfrm>
            <a:off x="675957" y="1391872"/>
            <a:ext cx="826922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Predictive Analysis:</a:t>
            </a:r>
            <a:r>
              <a:rPr kumimoji="0" lang="en-US" altLang="en-US" sz="1800" b="0" i="0" u="none" strike="noStrike" cap="none" normalizeH="0" baseline="0" dirty="0" smtClean="0">
                <a:ln>
                  <a:noFill/>
                </a:ln>
                <a:solidFill>
                  <a:schemeClr val="tx1"/>
                </a:solidFill>
                <a:effectLst/>
                <a:latin typeface="+mj-lt"/>
              </a:rPr>
              <a:t> Develop models to predict crop yield and profitability for different seasons.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Weather Integration:</a:t>
            </a:r>
            <a:r>
              <a:rPr kumimoji="0" lang="en-US" altLang="en-US" sz="1800" b="0" i="0" u="none" strike="noStrike" cap="none" normalizeH="0" baseline="0" dirty="0" smtClean="0">
                <a:ln>
                  <a:noFill/>
                </a:ln>
                <a:solidFill>
                  <a:schemeClr val="tx1"/>
                </a:solidFill>
                <a:effectLst/>
                <a:latin typeface="+mj-lt"/>
              </a:rPr>
              <a:t> Include real-time weather and climate data for better seasonal predictions.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Crop Recommendation:</a:t>
            </a:r>
            <a:r>
              <a:rPr kumimoji="0" lang="en-US" altLang="en-US" sz="1800" b="0" i="0" u="none" strike="noStrike" cap="none" normalizeH="0" baseline="0" dirty="0" smtClean="0">
                <a:ln>
                  <a:noFill/>
                </a:ln>
                <a:solidFill>
                  <a:schemeClr val="tx1"/>
                </a:solidFill>
                <a:effectLst/>
                <a:latin typeface="+mj-lt"/>
              </a:rPr>
              <a:t> Build a system that recommends suitable crops based on season, soil, rainfall, and temperature.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Resource Optimization:</a:t>
            </a:r>
            <a:r>
              <a:rPr kumimoji="0" lang="en-US" altLang="en-US" sz="1800" b="0" i="0" u="none" strike="noStrike" cap="none" normalizeH="0" baseline="0" dirty="0" smtClean="0">
                <a:ln>
                  <a:noFill/>
                </a:ln>
                <a:solidFill>
                  <a:schemeClr val="tx1"/>
                </a:solidFill>
                <a:effectLst/>
                <a:latin typeface="+mj-lt"/>
              </a:rPr>
              <a:t> Recommend efficient use of water, fertilizer, and pesticides.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Regional Planning:</a:t>
            </a:r>
            <a:r>
              <a:rPr kumimoji="0" lang="en-US" altLang="en-US" sz="1800" b="0" i="0" u="none" strike="noStrike" cap="none" normalizeH="0" baseline="0" dirty="0" smtClean="0">
                <a:ln>
                  <a:noFill/>
                </a:ln>
                <a:solidFill>
                  <a:schemeClr val="tx1"/>
                </a:solidFill>
                <a:effectLst/>
                <a:latin typeface="+mj-lt"/>
              </a:rPr>
              <a:t> Provide region-specific recommendations based on state and district performance.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Early Risk Detection:</a:t>
            </a:r>
            <a:r>
              <a:rPr kumimoji="0" lang="en-US" altLang="en-US" sz="1800" b="0" i="0" u="none" strike="noStrike" cap="none" normalizeH="0" baseline="0" dirty="0" smtClean="0">
                <a:ln>
                  <a:noFill/>
                </a:ln>
                <a:solidFill>
                  <a:schemeClr val="tx1"/>
                </a:solidFill>
                <a:effectLst/>
                <a:latin typeface="+mj-lt"/>
              </a:rPr>
              <a:t> Develop models to predict disease/pest risks and identify unusual seasonal patterns.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mj-lt"/>
              </a:rPr>
              <a:t>Interactive Dashboard:</a:t>
            </a:r>
            <a:r>
              <a:rPr kumimoji="0" lang="en-US" altLang="en-US" sz="1800" b="0" i="0" u="none" strike="noStrike" cap="none" normalizeH="0" baseline="0" dirty="0" smtClean="0">
                <a:ln>
                  <a:noFill/>
                </a:ln>
                <a:solidFill>
                  <a:schemeClr val="tx1"/>
                </a:solidFill>
                <a:effectLst/>
                <a:latin typeface="+mj-lt"/>
              </a:rPr>
              <a:t> Create a dashboard using tools such as Power BI or Tableau for real-time monitoring and decision-making. </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p:cNvSpPr txBox="1"/>
          <p:nvPr/>
        </p:nvSpPr>
        <p:spPr>
          <a:xfrm>
            <a:off x="788239" y="1753981"/>
            <a:ext cx="7222420" cy="1477328"/>
          </a:xfrm>
          <a:prstGeom prst="rect">
            <a:avLst/>
          </a:prstGeom>
          <a:noFill/>
        </p:spPr>
        <p:txBody>
          <a:bodyPr wrap="square" rtlCol="0">
            <a:spAutoFit/>
          </a:bodyPr>
          <a:lstStyle/>
          <a:p>
            <a:r>
              <a:rPr lang="en-US" dirty="0" smtClean="0"/>
              <a:t>GitHub Repo Link:</a:t>
            </a:r>
          </a:p>
          <a:p>
            <a:endParaRPr lang="en-US" dirty="0" smtClean="0"/>
          </a:p>
          <a:p>
            <a:r>
              <a:rPr lang="en-US" dirty="0">
                <a:hlinkClick r:id="rId3"/>
              </a:rPr>
              <a:t>https://github.com/tahoora27/Seasonal-Agricultural-Performance-Analysis-/blob/main/Seasonal__</a:t>
            </a:r>
            <a:r>
              <a:rPr lang="en-US" dirty="0" smtClean="0">
                <a:hlinkClick r:id="rId3"/>
              </a:rPr>
              <a:t>Agricultural_performance_Analysis.ipynb</a:t>
            </a:r>
            <a:r>
              <a:rPr lang="en-US" dirty="0" smtClean="0"/>
              <a:t> </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3"/>
          <a:stretch>
            <a:fillRect/>
          </a:stretch>
        </p:blipFill>
        <p:spPr>
          <a:xfrm>
            <a:off x="1026829" y="1404160"/>
            <a:ext cx="8000516" cy="4687547"/>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xmlns=""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xmlns=""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documentManagement/types"/>
    <ds:schemaRef ds:uri="http://www.w3.org/XML/1998/namespace"/>
    <ds:schemaRef ds:uri="http://schemas.microsoft.com/office/2006/metadata/properties"/>
    <ds:schemaRef ds:uri="http://purl.org/dc/elements/1.1/"/>
    <ds:schemaRef ds:uri="http://schemas.openxmlformats.org/package/2006/metadata/core-properties"/>
    <ds:schemaRef ds:uri="16c05727-aa75-4e4a-9b5f-8a80a1165891"/>
    <ds:schemaRef ds:uri="http://schemas.microsoft.com/office/infopath/2007/PartnerControls"/>
    <ds:schemaRef ds:uri="71af3243-3dd4-4a8d-8c0d-dd76da1f02a5"/>
    <ds:schemaRef ds:uri="http://purl.org/dc/dcmitype/"/>
    <ds:schemaRef ds:uri="http://purl.org/dc/terms/"/>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665</TotalTime>
  <Words>586</Words>
  <Application>Microsoft Office PowerPoint</Application>
  <PresentationFormat>Widescreen</PresentationFormat>
  <Paragraphs>68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pc</cp:lastModifiedBy>
  <cp:revision>106</cp:revision>
  <dcterms:created xsi:type="dcterms:W3CDTF">2021-07-11T13:13:15Z</dcterms:created>
  <dcterms:modified xsi:type="dcterms:W3CDTF">2026-09-10T08:24:35Z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